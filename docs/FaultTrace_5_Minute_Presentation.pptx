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84359d19674b39" /><Relationship Type="http://schemas.openxmlformats.org/officeDocument/2006/relationships/extended-properties" Target="/docProps/app.xml" Id="Rd94b973b2df94025" /><Relationship Type="http://schemas.openxmlformats.org/officeDocument/2006/relationships/officeDocument" Target="/ppt/presentation.xml" Id="Rb1f795045ad1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49ec81b454dfe"/>
  </p:sldMasterIdLst>
  <p:notesMasterIdLst>
    <p:notesMasterId xmlns:r="http://schemas.openxmlformats.org/officeDocument/2006/relationships" r:id="Ra543c30dc31b4567"/>
  </p:notesMasterIdLst>
  <p:sldIdLst>
    <p:sldId xmlns:r="http://schemas.openxmlformats.org/officeDocument/2006/relationships" id="256" r:id="R49fb08a47ad84ebd"/>
    <p:sldId xmlns:r="http://schemas.openxmlformats.org/officeDocument/2006/relationships" id="257" r:id="R45a6ea1e75764986"/>
    <p:sldId xmlns:r="http://schemas.openxmlformats.org/officeDocument/2006/relationships" id="258" r:id="R69cd9c1e27424ce5"/>
    <p:sldId xmlns:r="http://schemas.openxmlformats.org/officeDocument/2006/relationships" id="259" r:id="Rea7f5ad484744158"/>
    <p:sldId xmlns:r="http://schemas.openxmlformats.org/officeDocument/2006/relationships" id="260" r:id="R9d0dfa081bb34f83"/>
    <p:sldId xmlns:r="http://schemas.openxmlformats.org/officeDocument/2006/relationships" id="261" r:id="Re346024da3184c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1aa860dead477e" /><Relationship Type="http://schemas.openxmlformats.org/officeDocument/2006/relationships/slideMaster" Target="/ppt/slideMasters/slideMaster1.xml" Id="R23349ec81b454dfe" /><Relationship Type="http://schemas.openxmlformats.org/officeDocument/2006/relationships/notesMaster" Target="/ppt/notesMasters/notesMaster1.xml" Id="Ra543c30dc31b4567" /><Relationship Type="http://schemas.openxmlformats.org/officeDocument/2006/relationships/presProps" Target="/ppt/presProps.xml" Id="Rafb2394eb1a84484" /><Relationship Type="http://schemas.openxmlformats.org/officeDocument/2006/relationships/tableStyles" Target="/ppt/tableStyles.xml" Id="R702d1f4b98f247db" /><Relationship Type="http://schemas.openxmlformats.org/officeDocument/2006/relationships/slide" Target="/ppt/slides/slide1.xml" Id="R49fb08a47ad84ebd" /><Relationship Type="http://schemas.openxmlformats.org/officeDocument/2006/relationships/slide" Target="/ppt/slides/slide2.xml" Id="R45a6ea1e75764986" /><Relationship Type="http://schemas.openxmlformats.org/officeDocument/2006/relationships/slide" Target="/ppt/slides/slide3.xml" Id="R69cd9c1e27424ce5" /><Relationship Type="http://schemas.openxmlformats.org/officeDocument/2006/relationships/slide" Target="/ppt/slides/slide4.xml" Id="Rea7f5ad484744158" /><Relationship Type="http://schemas.openxmlformats.org/officeDocument/2006/relationships/slide" Target="/ppt/slides/slide5.xml" Id="R9d0dfa081bb34f83" /><Relationship Type="http://schemas.openxmlformats.org/officeDocument/2006/relationships/slide" Target="/ppt/slides/slide6.xml" Id="Re346024da3184c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c1ee37123c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37f7669460476e" /><Relationship Type="http://schemas.openxmlformats.org/officeDocument/2006/relationships/notesMaster" Target="/ppt/notesMasters/notesMaster1.xml" Id="Rce721a72bd3248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a57ab5308d4998" /><Relationship Type="http://schemas.openxmlformats.org/officeDocument/2006/relationships/notesMaster" Target="/ppt/notesMasters/notesMaster1.xml" Id="Rd7bb46bf2aa048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4fdbfaaa1423c" /><Relationship Type="http://schemas.openxmlformats.org/officeDocument/2006/relationships/notesMaster" Target="/ppt/notesMasters/notesMaster1.xml" Id="R7191d12a5cc641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c75dd434524233" /><Relationship Type="http://schemas.openxmlformats.org/officeDocument/2006/relationships/notesMaster" Target="/ppt/notesMasters/notesMaster1.xml" Id="R69e9070462a845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a9f1ad2cff49b0" /><Relationship Type="http://schemas.openxmlformats.org/officeDocument/2006/relationships/notesMaster" Target="/ppt/notesMasters/notesMaster1.xml" Id="R64855ddbcecf4b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273e02c154131" /><Relationship Type="http://schemas.openxmlformats.org/officeDocument/2006/relationships/notesMaster" Target="/ppt/notesMasters/notesMaster1.xml" Id="Rb74460d275234c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~25 seconds. Introduce FaultTrace as a local incident decision-support prototype.</a:t>
            </a:r>
          </a:p>
          <a:p xmlns:a="http://schemas.openxmlformats.org/drawingml/2006/main">
            <a:r>
              <a:t>State clearly: I did not train a model; I built an offline RAG pipeline around local Qwen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src/faulttrace/foundry.py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~40 seconds. Frame the project around trustworthy incident reasoning, not a generic chatbot.</a:t>
            </a:r>
          </a:p>
          <a:p xmlns:a="http://schemas.openxmlformats.org/drawingml/2006/main">
            <a:r>
              <a:t>Logs are facts, runbooks are guidance, and unsupported claims must be blocked.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src/faulttrace/analysis.py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~50 seconds. Walk left to right.</a:t>
            </a:r>
          </a:p>
          <a:p xmlns:a="http://schemas.openxmlformats.org/drawingml/2006/main">
            <a:r>
              <a:t>Mention qwen3-embedding-0.6b, SQLite text plus vectors, top-K cosine retrieval, and qwen3.5-2b-text.</a:t>
            </a:r>
          </a:p>
          <a:p xmlns:a="http://schemas.openxmlformats.org/drawingml/2006/main">
            <a:r>
              <a:t>All inference and document processing stay on-device after the one-time model download.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src/faulttrace/log_parser.py</a:t>
            </a:r>
          </a:p>
          <a:p xmlns:a="http://schemas.openxmlformats.org/drawingml/2006/main">
            <a:r>
              <a:t>- src/faulttrace/privacy.py</a:t>
            </a:r>
          </a:p>
          <a:p xmlns:a="http://schemas.openxmlformats.org/drawingml/2006/main">
            <a:r>
              <a:t>- src/faulttrace/knowledge_base.py</a:t>
            </a:r>
          </a:p>
          <a:p xmlns:a="http://schemas.openxmlformats.org/drawingml/2006/main">
            <a:r>
              <a:t>- src/faulttrace/foundry.py</a:t>
            </a:r>
          </a:p>
          <a:p xmlns:a="http://schemas.openxmlformats.org/drawingml/2006/main">
            <a:r>
              <a:t>- src/faulttrace/qa.py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~40 seconds. Explain that this is the core safety behavior, not an error state.</a:t>
            </a:r>
          </a:p>
          <a:p xmlns:a="http://schemas.openxmlformats.org/drawingml/2006/main">
            <a:r>
              <a:t>Point to the measured score and threshold in the real interface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src/faulttrace/qa.py</a:t>
            </a:r>
          </a:p>
          <a:p xmlns:a="http://schemas.openxmlformats.org/drawingml/2006/main">
            <a:r>
              <a:t>- Local project-owner screenshot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~35 seconds, then switch to the live app for about 90 seconds.</a:t>
            </a:r>
          </a:p>
          <a:p xmlns:a="http://schemas.openxmlformats.org/drawingml/2006/main">
            <a:r>
              <a:t>Demo sequence: select database incident; show impact score and failure chain; run Quick analysis; ask the HTTP 503 question; show the HR-policy rejection.</a:t>
            </a:r>
          </a:p>
          <a:p xmlns:a="http://schemas.openxmlformats.org/drawingml/2006/main">
            <a:r>
              <a:t>Explain that retrieval, LLM generation, and end-to-end latency are reported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src/faulttrace/evaluation.py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~20 seconds. Close by restating the product boundary: decision support, not autonomous remediation.</a:t>
            </a:r>
          </a:p>
          <a:p xmlns:a="http://schemas.openxmlformats.org/drawingml/2006/main">
            <a:r>
              <a:t>Invite questions about the architecture, evaluation, or offline model integration.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f44e392904b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d4c395bac343b1" /><Relationship Type="http://schemas.openxmlformats.org/officeDocument/2006/relationships/slideLayout" Target="/ppt/slideLayouts/slideLayout1.xml" Id="R95bcfb1ceb3d41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cfb1ceb3d41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918cf0b54908" /><Relationship Type="http://schemas.openxmlformats.org/officeDocument/2006/relationships/notesSlide" Target="/ppt/notesSlides/notesSlide1.xml" Id="R5d1c3a34c3de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404ab064d4763" /><Relationship Type="http://schemas.openxmlformats.org/officeDocument/2006/relationships/notesSlide" Target="/ppt/notesSlides/notesSlide2.xml" Id="R567627652a234f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bbd9a009a412a" /><Relationship Type="http://schemas.openxmlformats.org/officeDocument/2006/relationships/notesSlide" Target="/ppt/notesSlides/notesSlide3.xml" Id="R0771b07af48840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3bd89bb0c44a2" /><Relationship Type="http://schemas.openxmlformats.org/officeDocument/2006/relationships/image" Target="/ppt/media/image.png" Id="R7fabcb14ee4b4702" /><Relationship Type="http://schemas.openxmlformats.org/officeDocument/2006/relationships/notesSlide" Target="/ppt/notesSlides/notesSlide4.xml" Id="Rc52598387e4143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5413f2b2d40b4" /><Relationship Type="http://schemas.openxmlformats.org/officeDocument/2006/relationships/notesSlide" Target="/ppt/notesSlides/notesSlide5.xml" Id="R272c748a1a6b4d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0a73e8deb4b9a" /><Relationship Type="http://schemas.openxmlformats.org/officeDocument/2006/relationships/notesSlide" Target="/ppt/notesSlides/notesSlide6.xml" Id="Re5d78aa1f2b444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9DA21DCC-68D5-4A16-A6EE-195470D9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FAULTTRACE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B2D8379-6FBB-49DB-B6BF-D6E1E697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Offline, evidence-grounded incident analysis and postmortems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D864348-0155-4C23-ADE1-6D364604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Aptos"/>
                <a:ea typeface="Aptos"/>
                <a:cs typeface="Aptos"/>
              </a:rPr>
              <a:t>MICROSOFT FOUNDRY LOCAL PROJECT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4348478F-3D93-4AD3-BC2D-0B0EE78F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1971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B6E4428-D8C0-44C9-9BD3-EB17A145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EC88BFD-95EB-4843-ACDC-C51CE562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Incident evidence is fragmented when response speed matters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541098AC-2B15-464E-93CE-37E78D0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8FE33835-8317-49D5-AEDF-DDA6F4D8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7547ADB-E5E6-4F7E-B323-BBC6F84E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Runbooks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Scattered operational knowledge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FD96572-DF9A-4BD5-A1A4-43506548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Risk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Confident answers without support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385F07D1-A207-4151-B086-773953E2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79ED31D-3520-4EAA-B2C6-A89E7A9F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BF5D55B0-535D-45F9-8705-A04F8F4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66FFC85-7233-41F5-A8A9-641681AB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Raw, noisy, time-sensitive evidence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5CB1C06-06F8-4E10-93A1-3A2BA81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A9087AD6-B0E6-4E04-B812-783117D6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Aptos"/>
                <a:ea typeface="Aptos"/>
                <a:cs typeface="Aptos"/>
              </a:rPr>
              <a:t>THE PROBLEM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41B"/>
                </a:solidFill>
                <a:latin typeface="Aptos"/>
                <a:ea typeface="Aptos"/>
                <a:cs typeface="Aptos"/>
              </a:rPr>
              <a:t>Logs show what happened; runbooks explain what to check. Generic assistants can mix facts, guidance, and guesses.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FaultTrace joins both evidence types locally and keeps their sources visible.</a:t>
            </a:r>
          </a:p>
        </p:txBody>
      </p:sp>
      <p:sp>
        <p:nvSpPr>
          <p:cNvPr id="13" name="accent-2">
            <a:extLst xmlns:a="http://schemas.openxmlformats.org/drawingml/2006/main">
              <a:ext uri="{FF2B5EF4-FFF2-40B4-BE49-F238E27FC236}">
                <a16:creationId xmlns:a16="http://schemas.microsoft.com/office/drawing/2014/main" id="{11A11A6E-28D6-44CE-8C6A-481A5815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9463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6F8DD93-F1BA-4824-A14E-8FA40FC8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A476364-6482-40E9-8600-2AF8E935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FaultTrace turns local evidence into a grounded answer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93668" y="3373755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93E20C1-C5AE-4122-8510-8A070F41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8FFE0C7-2702-4676-89D9-27F36CE6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2AA075F-7FEB-4E49-B793-750C873F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100B5D4-71C4-4394-99DA-46852FC9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27F374C-412E-42A0-A799-24F5BE98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13C6049-9E23-4B15-85C1-63B683C8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C5D656B-0BA3-4117-8FAB-72ECCA04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Embed + retrieve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Search SQLite chunks with local embeddings and cosine similarity.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C632155-1372-40FF-881A-2472A8AB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Parse + redact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Normalize logs and mask sensitive values.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BA510B0-F924-4F38-BB5D-72101535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Answer + audit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Generate from labelled evidence, then verify citation labels.</a:t>
            </a:r>
          </a:p>
        </p:txBody>
      </p:sp>
      <p:sp>
        <p:nvSpPr>
          <p:cNvPr id="13" name="accent-3">
            <a:extLst xmlns:a="http://schemas.openxmlformats.org/drawingml/2006/main">
              <a:ext uri="{FF2B5EF4-FFF2-40B4-BE49-F238E27FC236}">
                <a16:creationId xmlns:a16="http://schemas.microsoft.com/office/drawing/2014/main" id="{C5F4CABA-BADD-4BB6-BA9A-654BA388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stage-01">
            <a:extLst xmlns:a="http://schemas.openxmlformats.org/drawingml/2006/main">
              <a:ext uri="{FF2B5EF4-FFF2-40B4-BE49-F238E27FC236}">
                <a16:creationId xmlns:a16="http://schemas.microsoft.com/office/drawing/2014/main" id="{B0E85AA2-EB22-4701-B5FC-EDE8DF1D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B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stage-02">
            <a:extLst xmlns:a="http://schemas.openxmlformats.org/drawingml/2006/main">
              <a:ext uri="{FF2B5EF4-FFF2-40B4-BE49-F238E27FC236}">
                <a16:creationId xmlns:a16="http://schemas.microsoft.com/office/drawing/2014/main" id="{0342B077-D07C-43E6-9B54-36322E3B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B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stage-03">
            <a:extLst xmlns:a="http://schemas.openxmlformats.org/drawingml/2006/main">
              <a:ext uri="{FF2B5EF4-FFF2-40B4-BE49-F238E27FC236}">
                <a16:creationId xmlns:a16="http://schemas.microsoft.com/office/drawing/2014/main" id="{20D7080C-60CA-4EF7-8A11-A0020234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81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B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0745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4">
            <a:extLst xmlns:a="http://schemas.openxmlformats.org/drawingml/2006/main">
              <a:ext uri="{FF2B5EF4-FFF2-40B4-BE49-F238E27FC236}">
                <a16:creationId xmlns:a16="http://schemas.microsoft.com/office/drawing/2014/main" id="{EDC4A710-07FC-45BA-8C35-6628F6C9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CA999167-34EE-4F33-9B54-08CD3DF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141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141B"/>
                </a:solidFill>
                <a:latin typeface="Aptos Display"/>
                <a:ea typeface="Aptos Display"/>
                <a:cs typeface="Aptos Display"/>
              </a:rPr>
              <a:t>Unsupported questions stop before generation</a:t>
            </a:r>
          </a:p>
        </p:txBody>
      </p:sp>
      <p:sp>
        <p:nvSpPr>
          <p:cNvPr id="3" name="safety-body">
            <a:extLst xmlns:a="http://schemas.openxmlformats.org/drawingml/2006/main">
              <a:ext uri="{FF2B5EF4-FFF2-40B4-BE49-F238E27FC236}">
                <a16:creationId xmlns:a16="http://schemas.microsoft.com/office/drawing/2014/main" id="{90FBE412-ABAF-4BDD-81EF-0DCE3D35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41719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0141B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0141B"/>
                </a:solidFill>
                <a:latin typeface="Aptos"/>
                <a:ea typeface="Aptos"/>
                <a:cs typeface="Aptos"/>
              </a:rPr>
              <a:t>Retrieval runs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0141B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0141B"/>
                </a:solidFill>
                <a:latin typeface="Aptos"/>
                <a:ea typeface="Aptos"/>
                <a:cs typeface="Aptos"/>
              </a:rPr>
              <a:t>A calibrated 0.48 similarity gate blocks weak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0141B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10141B"/>
                </a:solidFill>
                <a:latin typeface="Aptos"/>
                <a:ea typeface="Aptos"/>
                <a:cs typeface="Aptos"/>
              </a:rPr>
              <a:t>The local chat model never runs for a rejected question.</a:t>
            </a:r>
          </a:p>
        </p:txBody>
      </p:sp>
      <p:sp>
        <p:nvSpPr>
          <p:cNvPr id="4" name="safety-callout">
            <a:extLst xmlns:a="http://schemas.openxmlformats.org/drawingml/2006/main">
              <a:ext uri="{FF2B5EF4-FFF2-40B4-BE49-F238E27FC236}">
                <a16:creationId xmlns:a16="http://schemas.microsoft.com/office/drawing/2014/main" id="{614CF307-5A00-412C-B275-FABFF45B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10200"/>
            <a:ext cx="4171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0.440 &lt; 0.480  →  safe fallback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cb14ee4b4702"/>
          <a:stretch xmlns:a="http://schemas.openxmlformats.org/drawingml/2006/main"/>
        </p:blipFill>
        <p:spPr>
          <a:xfrm xmlns:a="http://schemas.openxmlformats.org/drawingml/2006/main">
            <a:off x="4953000" y="1575307"/>
            <a:ext cx="6838950" cy="3840736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6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10817186-26D0-44E3-827C-C778AF30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62600"/>
            <a:ext cx="683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96579"/>
                </a:solidFill>
              </a:defRPr>
            </a:pPr>
            <a:r>
              <a:rPr sz="1350">
                <a:solidFill>
                  <a:srgbClr val="596579"/>
                </a:solidFill>
              </a:rPr>
              <a:t>Real local UI · no answer was invented</a:t>
            </a:r>
          </a:p>
        </p:txBody>
      </p:sp>
    </p:spTree>
    <p:extLst>
      <p:ext uri="{BB962C8B-B14F-4D97-AF65-F5344CB8AC3E}">
        <p14:creationId xmlns:p14="http://schemas.microsoft.com/office/powerpoint/2010/main" val="378497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11A80D9-103A-4B98-8FCE-6653118A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C9EED2E-3C3A-4ABF-B63D-6A0893E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67CF6CC-4659-45E9-BB89-9B8840F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14232A7-2CF0-47CD-AA76-FB793B11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197AF82-80BB-4F7C-8828-B6BA3C4C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The prototype is tested, evaluated, and measurable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E99E291-63B5-4B36-805C-68339CF7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automated tests passing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DB34FA8-D52C-4A3D-9369-9ECFF5EF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separate latency measurements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0A89E69-8650-4B95-9A04-7A9E61DD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RAG evaluation cases passing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01CA637-3749-4D78-9EBB-069C3F5D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27 / 27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7CAD8B0-21F0-4088-B197-61CE434D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5 / 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4E90B6F-B4BE-4FA7-A19E-A755E498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0095E69-E410-46F1-821E-8E32215E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Aptos"/>
                <a:ea typeface="Aptos"/>
                <a:cs typeface="Aptos"/>
              </a:rPr>
              <a:t>VERIFICATION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41B"/>
                </a:solidFill>
                <a:latin typeface="Aptos"/>
                <a:ea typeface="Aptos"/>
                <a:cs typeface="Aptos"/>
              </a:rPr>
              <a:t>Automated tests cover parsing, malformed input, privacy, chunking, SQLite retrieval, safe rejection, citations, metrics, and persistence.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EB87DA61-EE46-4302-A023-A15BA5A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527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2B559A25-855B-4BFD-BEB1-3C0A86F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Evidence, not guesses.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8425392-D691-4FCC-B946-87D9EC2B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Local RAG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Verifiable citations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B"/>
                </a:solidFill>
                <a:latin typeface="Aptos"/>
                <a:ea typeface="Aptos"/>
                <a:cs typeface="Aptos"/>
              </a:rPr>
              <a:t>Safe fallback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E985C1D-A930-4A53-8E89-09B120FE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Aptos"/>
                <a:ea typeface="Aptos"/>
                <a:cs typeface="Aptos"/>
              </a:rPr>
              <a:t>FAULTTRACE</a:t>
            </a:r>
          </a:p>
        </p:txBody>
      </p:sp>
      <p:sp>
        <p:nvSpPr>
          <p:cNvPr id="4" name="accent-6">
            <a:extLst xmlns:a="http://schemas.openxmlformats.org/drawingml/2006/main">
              <a:ext uri="{FF2B5EF4-FFF2-40B4-BE49-F238E27FC236}">
                <a16:creationId xmlns:a16="http://schemas.microsoft.com/office/drawing/2014/main" id="{CD3C0387-D9BC-46E1-B931-A8315CB1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0388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2026-08-10T07:56:06.2720000Z</dcterms:created>
  <dcterms:modified xsi:type="dcterms:W3CDTF">2026-08-10T07:56:06.2730000Z</dcterms:modified>
</coreProperties>
</file>