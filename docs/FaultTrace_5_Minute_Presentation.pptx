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6a620fa5df4ba0" /><Relationship Type="http://schemas.openxmlformats.org/officeDocument/2006/relationships/extended-properties" Target="/docProps/app.xml" Id="R86a4a9a24dc6455a" /><Relationship Type="http://schemas.openxmlformats.org/officeDocument/2006/relationships/officeDocument" Target="/ppt/presentation.xml" Id="Rb14f125df08444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c2a8cc562843b2"/>
  </p:sldMasterIdLst>
  <p:notesMasterIdLst>
    <p:notesMasterId xmlns:r="http://schemas.openxmlformats.org/officeDocument/2006/relationships" r:id="R066b1c365a9d4c81"/>
  </p:notesMasterIdLst>
  <p:sldIdLst>
    <p:sldId xmlns:r="http://schemas.openxmlformats.org/officeDocument/2006/relationships" id="256" r:id="R131f702a4271434c"/>
    <p:sldId xmlns:r="http://schemas.openxmlformats.org/officeDocument/2006/relationships" id="257" r:id="R54529e71af0b402e"/>
    <p:sldId xmlns:r="http://schemas.openxmlformats.org/officeDocument/2006/relationships" id="258" r:id="Rdbef52b1b0484b22"/>
    <p:sldId xmlns:r="http://schemas.openxmlformats.org/officeDocument/2006/relationships" id="259" r:id="R2b7702c47a0a4c78"/>
    <p:sldId xmlns:r="http://schemas.openxmlformats.org/officeDocument/2006/relationships" id="260" r:id="R5c209e7e1010491f"/>
    <p:sldId xmlns:r="http://schemas.openxmlformats.org/officeDocument/2006/relationships" id="261" r:id="Ra0b540d367c145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6b83c0978c4b76" /><Relationship Type="http://schemas.openxmlformats.org/officeDocument/2006/relationships/slideMaster" Target="/ppt/slideMasters/slideMaster1.xml" Id="R25c2a8cc562843b2" /><Relationship Type="http://schemas.openxmlformats.org/officeDocument/2006/relationships/notesMaster" Target="/ppt/notesMasters/notesMaster1.xml" Id="R066b1c365a9d4c81" /><Relationship Type="http://schemas.openxmlformats.org/officeDocument/2006/relationships/presProps" Target="/ppt/presProps.xml" Id="R24ff44aac00b40b5" /><Relationship Type="http://schemas.openxmlformats.org/officeDocument/2006/relationships/tableStyles" Target="/ppt/tableStyles.xml" Id="R356f54fc89984797" /><Relationship Type="http://schemas.openxmlformats.org/officeDocument/2006/relationships/slide" Target="/ppt/slides/slide1.xml" Id="R131f702a4271434c" /><Relationship Type="http://schemas.openxmlformats.org/officeDocument/2006/relationships/slide" Target="/ppt/slides/slide2.xml" Id="R54529e71af0b402e" /><Relationship Type="http://schemas.openxmlformats.org/officeDocument/2006/relationships/slide" Target="/ppt/slides/slide3.xml" Id="Rdbef52b1b0484b22" /><Relationship Type="http://schemas.openxmlformats.org/officeDocument/2006/relationships/slide" Target="/ppt/slides/slide4.xml" Id="R2b7702c47a0a4c78" /><Relationship Type="http://schemas.openxmlformats.org/officeDocument/2006/relationships/slide" Target="/ppt/slides/slide5.xml" Id="R5c209e7e1010491f" /><Relationship Type="http://schemas.openxmlformats.org/officeDocument/2006/relationships/slide" Target="/ppt/slides/slide6.xml" Id="Ra0b540d367c145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43612492a34a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5ba2c9b2e74f5d" /><Relationship Type="http://schemas.openxmlformats.org/officeDocument/2006/relationships/notesMaster" Target="/ppt/notesMasters/notesMaster1.xml" Id="R0cc3bed17e9545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07eea271d24dff" /><Relationship Type="http://schemas.openxmlformats.org/officeDocument/2006/relationships/notesMaster" Target="/ppt/notesMasters/notesMaster1.xml" Id="R4788e2adb8b24a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859f6a40a4234" /><Relationship Type="http://schemas.openxmlformats.org/officeDocument/2006/relationships/notesMaster" Target="/ppt/notesMasters/notesMaster1.xml" Id="R22e8308889e94d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35bed366de4775" /><Relationship Type="http://schemas.openxmlformats.org/officeDocument/2006/relationships/notesMaster" Target="/ppt/notesMasters/notesMaster1.xml" Id="R13339a7aa6654d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b8574b29f94dd9" /><Relationship Type="http://schemas.openxmlformats.org/officeDocument/2006/relationships/notesMaster" Target="/ppt/notesMasters/notesMaster1.xml" Id="R19e86ebffa7a46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1492a16b084b5f" /><Relationship Type="http://schemas.openxmlformats.org/officeDocument/2006/relationships/notesMaster" Target="/ppt/notesMasters/notesMaster1.xml" Id="R85c9c7927ff541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~25 seconds. Introduce FaultTrace as a local incident decision-support prototype.</a:t>
            </a:r>
          </a:p>
          <a:p xmlns:a="http://schemas.openxmlformats.org/drawingml/2006/main">
            <a:r>
              <a:t>State clearly: I did not train a model; I built an offline RAG pipeline around local Qwen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src/faulttrace/foundry.py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~40 seconds. Frame the project around trustworthy incident reasoning, not a generic chatbot.</a:t>
            </a:r>
          </a:p>
          <a:p xmlns:a="http://schemas.openxmlformats.org/drawingml/2006/main">
            <a:r>
              <a:t>Logs are facts, runbooks are guidance, and unsupported claims must be blocked.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src/faulttrace/analysis.py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~50 seconds. Walk left to right.</a:t>
            </a:r>
          </a:p>
          <a:p xmlns:a="http://schemas.openxmlformats.org/drawingml/2006/main">
            <a:r>
              <a:t>Mention qwen3-embedding-0.6b, SQLite text plus vectors, top-K cosine retrieval, and qwen3.5-2b-text.</a:t>
            </a:r>
          </a:p>
          <a:p xmlns:a="http://schemas.openxmlformats.org/drawingml/2006/main">
            <a:r>
              <a:t>All inference and document processing stay on-device after the one-time model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src/faulttrace/log_parser.py</a:t>
            </a:r>
          </a:p>
          <a:p xmlns:a="http://schemas.openxmlformats.org/drawingml/2006/main">
            <a:r>
              <a:t>- src/faulttrace/privacy.py</a:t>
            </a:r>
          </a:p>
          <a:p xmlns:a="http://schemas.openxmlformats.org/drawingml/2006/main">
            <a:r>
              <a:t>- src/faulttrace/knowledge_base.py</a:t>
            </a:r>
          </a:p>
          <a:p xmlns:a="http://schemas.openxmlformats.org/drawingml/2006/main">
            <a:r>
              <a:t>- src/faulttrace/foundry.py</a:t>
            </a:r>
          </a:p>
          <a:p xmlns:a="http://schemas.openxmlformats.org/drawingml/2006/main">
            <a:r>
              <a:t>- src/faulttrace/qa.py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~40 seconds. Explain that this is the core safety behavior, not an error state.</a:t>
            </a:r>
          </a:p>
          <a:p xmlns:a="http://schemas.openxmlformats.org/drawingml/2006/main">
            <a:r>
              <a:t>Point to the measured score and threshold in the real interface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src/faulttrace/qa.py</a:t>
            </a:r>
          </a:p>
          <a:p xmlns:a="http://schemas.openxmlformats.org/drawingml/2006/main">
            <a:r>
              <a:t>- Local project-owner screenshot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~35 seconds, then switch to the live app for about 90 seconds.</a:t>
            </a:r>
          </a:p>
          <a:p xmlns:a="http://schemas.openxmlformats.org/drawingml/2006/main">
            <a:r>
              <a:t>Demo sequence: select database incident; show impact score and failure chain; run Quick analysis; ask the HTTP 503 question; show the HR-policy rejection.</a:t>
            </a:r>
          </a:p>
          <a:p xmlns:a="http://schemas.openxmlformats.org/drawingml/2006/main">
            <a:r>
              <a:t>Explain that retrieval, LLM generation, and end-to-end latency are reported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src/faulttrace/evaluation.py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~20 seconds. Close by restating the product boundary: decision support, not autonomous remediation.</a:t>
            </a:r>
          </a:p>
          <a:p xmlns:a="http://schemas.openxmlformats.org/drawingml/2006/main">
            <a:r>
              <a:t>Invite questions about the architecture, evaluation, or offline model integration.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3874fbd874e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633174c5824cec" /><Relationship Type="http://schemas.openxmlformats.org/officeDocument/2006/relationships/slideLayout" Target="/ppt/slideLayouts/slideLayout1.xml" Id="Rfeef0338e2d647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ef0338e2d647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719226bed4c0e" /><Relationship Type="http://schemas.openxmlformats.org/officeDocument/2006/relationships/notesSlide" Target="/ppt/notesSlides/notesSlide1.xml" Id="R90d86c5a4e5b43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2a0a30f024d86" /><Relationship Type="http://schemas.openxmlformats.org/officeDocument/2006/relationships/notesSlide" Target="/ppt/notesSlides/notesSlide2.xml" Id="R1dc836f1576e41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ea4d26e1c4998" /><Relationship Type="http://schemas.openxmlformats.org/officeDocument/2006/relationships/notesSlide" Target="/ppt/notesSlides/notesSlide3.xml" Id="R21d8e2d6af864d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5ba3269ae436f" /><Relationship Type="http://schemas.openxmlformats.org/officeDocument/2006/relationships/image" Target="/ppt/media/image.png" Id="R8710930dc2f2419f" /><Relationship Type="http://schemas.openxmlformats.org/officeDocument/2006/relationships/notesSlide" Target="/ppt/notesSlides/notesSlide4.xml" Id="Rabd36286985641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172bb4f34403b" /><Relationship Type="http://schemas.openxmlformats.org/officeDocument/2006/relationships/notesSlide" Target="/ppt/notesSlides/notesSlide5.xml" Id="R512c27fb6b584c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76191e9814bbe" /><Relationship Type="http://schemas.openxmlformats.org/officeDocument/2006/relationships/notesSlide" Target="/ppt/notesSlides/notesSlide6.xml" Id="R11915812dee34a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814372F2-ACAF-4AB3-A423-1C6F87D3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F585FAFF-BB93-4CEE-9D8C-0B220E5D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Offline, evidence-grounded incident analysis and postmortems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C3998C8-9B79-4B61-8055-58711658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MICROSOFT FOUNDRY LOCAL PROJECT</a:t>
            </a:r>
          </a:p>
        </p:txBody>
      </p:sp>
      <p:sp>
        <p:nvSpPr>
          <p:cNvPr id="4" name="accent-1">
            <a:extLst xmlns:a="http://schemas.openxmlformats.org/drawingml/2006/main">
              <a:ext uri="{FF2B5EF4-FFF2-40B4-BE49-F238E27FC236}">
                <a16:creationId xmlns:a16="http://schemas.microsoft.com/office/drawing/2014/main" id="{6FB74210-B6AE-4C47-A6C9-57083237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77500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0B676E61-541C-4252-A0A4-785695CC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6FE50BF-50A4-43BC-AC22-8A7A8576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Incident evidence is fragmented when response speed matters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3F6D5530-15AC-47D7-87E3-CAF8DD1B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D0B9967B-E4B1-4FA0-B5F0-22167840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9008C56-31AC-4C97-8C29-772CE3F7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Runbooks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Scattered operational knowledge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857F46E-D7FC-417F-A028-07E00D87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Risk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Confident answers without support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1FFE4E5B-273F-4B0D-9DD9-CEFC8E2F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E9794174-C369-4EBD-98C7-8BD80DD0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CA528B17-01B0-46C2-968E-1502AB89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D6702BD9-2917-4812-B387-FFDED57F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Logs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Raw, noisy, time-sensitive evidence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19858CA6-197B-4E80-9A18-10DD19B1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861CDA91-B88A-4E87-B89F-F37EB2DA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THE PROBLEM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>Logs show what happened; runbooks explain what to check. Generic assistants can mix facts, guidance, and guesses.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 joins both evidence types locally and keeps their sources visible.</a:t>
            </a:r>
          </a:p>
        </p:txBody>
      </p:sp>
      <p:sp>
        <p:nvSpPr>
          <p:cNvPr id="13" name="accent-2">
            <a:extLst xmlns:a="http://schemas.openxmlformats.org/drawingml/2006/main">
              <a:ext uri="{FF2B5EF4-FFF2-40B4-BE49-F238E27FC236}">
                <a16:creationId xmlns:a16="http://schemas.microsoft.com/office/drawing/2014/main" id="{87531248-7062-4104-81DF-E382081F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08997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1BD76626-06FB-4D02-A206-3814EF99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7D1E2CC-4939-4827-8091-E744764F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FaultTrace turns local evidence into a grounded answer</a:t>
            </a:r>
          </a:p>
        </p:txBody>
      </p:sp>
      <p:cxnSp>
        <p:nvCxnSpPr>
          <p:cNvPr id="19" name="Google-Shape-2259-p159-4"/>
          <p:cNvCxnSpPr/>
          <p:nvPr/>
        </p:nvCxnSpPr>
        <p:spPr>
          <a:xfrm xmlns:a="http://schemas.openxmlformats.org/drawingml/2006/main">
            <a:off x="393668" y="3373755"/>
            <a:ext cx="11404568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B28A7430-8C82-441B-98DF-1F6E2BE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97F24FA-E134-47E4-AE91-032FF11E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AD9CAAD-E5B3-4BAD-A340-839F6CF6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66222880-B93A-4AA9-8362-ECD0EB3A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714255C6-926B-4F56-AE0F-EB3D095A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31E1EF5-3F3E-4D4F-B6DD-644823B7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3606AD44-9EFC-4CA0-B91A-F8E0BCF9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Embed + retrieve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Search SQLite chunks with local embeddings and cosine similarity.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033C66D-7B3C-4A62-A01E-D83F5FCD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Parse + redact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Normalize logs and mask sensitive values.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E94C13C-B00C-413E-BE1E-57C87939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Answer + audit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Generate from labelled evidence, then verify citation labels.</a:t>
            </a:r>
          </a:p>
        </p:txBody>
      </p:sp>
      <p:sp>
        <p:nvSpPr>
          <p:cNvPr id="13" name="accent-3">
            <a:extLst xmlns:a="http://schemas.openxmlformats.org/drawingml/2006/main">
              <a:ext uri="{FF2B5EF4-FFF2-40B4-BE49-F238E27FC236}">
                <a16:creationId xmlns:a16="http://schemas.microsoft.com/office/drawing/2014/main" id="{CAF11D1D-672D-4AB2-871B-B46E472D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stage-01">
            <a:extLst xmlns:a="http://schemas.openxmlformats.org/drawingml/2006/main">
              <a:ext uri="{FF2B5EF4-FFF2-40B4-BE49-F238E27FC236}">
                <a16:creationId xmlns:a16="http://schemas.microsoft.com/office/drawing/2014/main" id="{5638D0EF-2A54-4261-A58C-B4E3A446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stage-02">
            <a:extLst xmlns:a="http://schemas.openxmlformats.org/drawingml/2006/main">
              <a:ext uri="{FF2B5EF4-FFF2-40B4-BE49-F238E27FC236}">
                <a16:creationId xmlns:a16="http://schemas.microsoft.com/office/drawing/2014/main" id="{53CDB5AE-156B-40B2-9DFD-E4EEC6EE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stage-03">
            <a:extLst xmlns:a="http://schemas.openxmlformats.org/drawingml/2006/main">
              <a:ext uri="{FF2B5EF4-FFF2-40B4-BE49-F238E27FC236}">
                <a16:creationId xmlns:a16="http://schemas.microsoft.com/office/drawing/2014/main" id="{9F267384-249B-4B63-8617-78450F8B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813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6B3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707318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-4">
            <a:extLst xmlns:a="http://schemas.openxmlformats.org/drawingml/2006/main">
              <a:ext uri="{FF2B5EF4-FFF2-40B4-BE49-F238E27FC236}">
                <a16:creationId xmlns:a16="http://schemas.microsoft.com/office/drawing/2014/main" id="{233D1A92-3265-4466-B583-33556E1B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133DF0BA-5D29-4F0F-B851-6BE6AE85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0141B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0141B"/>
                </a:solidFill>
                <a:latin typeface="Aptos Display"/>
                <a:ea typeface="Aptos Display"/>
                <a:cs typeface="Aptos Display"/>
              </a:rPr>
              <a:t>Unsupported questions stop before generation</a:t>
            </a:r>
          </a:p>
        </p:txBody>
      </p:sp>
      <p:sp>
        <p:nvSpPr>
          <p:cNvPr id="3" name="safety-body">
            <a:extLst xmlns:a="http://schemas.openxmlformats.org/drawingml/2006/main">
              <a:ext uri="{FF2B5EF4-FFF2-40B4-BE49-F238E27FC236}">
                <a16:creationId xmlns:a16="http://schemas.microsoft.com/office/drawing/2014/main" id="{B2AE6CC8-D55B-41AB-A65D-8965408C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4171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Retrieval runs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A calibrated 0.48 similarity gate blocks weak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10141B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10141B"/>
                </a:solidFill>
                <a:latin typeface="Aptos"/>
                <a:ea typeface="Aptos"/>
                <a:cs typeface="Aptos"/>
              </a:rPr>
              <a:t>The local chat model never runs for a rejected question.</a:t>
            </a:r>
          </a:p>
        </p:txBody>
      </p:sp>
      <p:sp>
        <p:nvSpPr>
          <p:cNvPr id="4" name="safety-callout">
            <a:extLst xmlns:a="http://schemas.openxmlformats.org/drawingml/2006/main">
              <a:ext uri="{FF2B5EF4-FFF2-40B4-BE49-F238E27FC236}">
                <a16:creationId xmlns:a16="http://schemas.microsoft.com/office/drawing/2014/main" id="{28FFE02E-EA6E-4C5A-90B6-2BC45A48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10200"/>
            <a:ext cx="41719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0.440 &lt; 0.480  →  safe fallback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0930dc2f2419f"/>
          <a:stretch xmlns:a="http://schemas.openxmlformats.org/drawingml/2006/main"/>
        </p:blipFill>
        <p:spPr>
          <a:xfrm xmlns:a="http://schemas.openxmlformats.org/drawingml/2006/main">
            <a:off x="4953000" y="1575307"/>
            <a:ext cx="6838950" cy="3840736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6" name="screenshot-caption">
            <a:extLst xmlns:a="http://schemas.openxmlformats.org/drawingml/2006/main">
              <a:ext uri="{FF2B5EF4-FFF2-40B4-BE49-F238E27FC236}">
                <a16:creationId xmlns:a16="http://schemas.microsoft.com/office/drawing/2014/main" id="{287B7693-0512-467A-9701-90C3735E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62600"/>
            <a:ext cx="683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596579"/>
                </a:solidFill>
              </a:defRPr>
            </a:pPr>
            <a:r>
              <a:rPr sz="1350">
                <a:solidFill>
                  <a:srgbClr val="596579"/>
                </a:solidFill>
              </a:rPr>
              <a:t>Real local UI · no answer was invented</a:t>
            </a:r>
          </a:p>
        </p:txBody>
      </p:sp>
    </p:spTree>
    <p:extLst>
      <p:ext uri="{BB962C8B-B14F-4D97-AF65-F5344CB8AC3E}">
        <p14:creationId xmlns:p14="http://schemas.microsoft.com/office/powerpoint/2010/main" val="9238674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8B277B07-73D2-4989-BD65-46E890C7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DE3C2DA1-4194-49D4-B9D3-9151D2A5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91264EBB-9DEA-43D0-959E-5632DCA1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690DB8E-CEA2-4125-8BB6-0B21128D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EC05650-12B3-4F54-A767-496B4FA3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The prototype is tested, evaluated, and measurable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FEFCBCF-5C2A-49CC-A63B-FCE4B2A7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automated tests passing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4C6D581-6B65-4B53-BD1A-5368A979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separate latency measurements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5EB9065D-F178-41F1-9909-E986A2C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579"/>
                </a:solidFill>
                <a:latin typeface="Aptos"/>
                <a:ea typeface="Aptos"/>
                <a:cs typeface="Aptos"/>
              </a:rPr>
              <a:t>RAG evaluation cases passing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AEA00C99-9597-4A75-9F56-2DC25FEA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33 / 33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F3DBA2ED-F8D1-4B90-BA92-EE20376D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5875E70A-2F77-4FC3-A6C7-5737D0E0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F9C1A90-EE25-46A4-B681-E216AA74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0141B"/>
                </a:solidFill>
                <a:latin typeface="Aptos"/>
                <a:ea typeface="Aptos"/>
                <a:cs typeface="Aptos"/>
              </a:rPr>
              <a:t>Automated tests cover parsing, malformed input, privacy, chunking, SQLite retrieval, safe rejection, citations, metrics, and persistence.</a:t>
            </a:r>
          </a:p>
        </p:txBody>
      </p:sp>
      <p:sp>
        <p:nvSpPr>
          <p:cNvPr id="13" name="accent-5">
            <a:extLst xmlns:a="http://schemas.openxmlformats.org/drawingml/2006/main">
              <a:ext uri="{FF2B5EF4-FFF2-40B4-BE49-F238E27FC236}">
                <a16:creationId xmlns:a16="http://schemas.microsoft.com/office/drawing/2014/main" id="{8DC3055C-315C-40D5-923E-DF34808B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698218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40EEFB54-F03B-4605-9830-DB00D8D2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Evidence, not guesses.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B626A06-BBFD-4854-9A4E-99FDDFEB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Local RAG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Verifiable citations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41B"/>
                </a:solidFill>
                <a:latin typeface="Aptos"/>
                <a:ea typeface="Aptos"/>
                <a:cs typeface="Aptos"/>
              </a:rPr>
              <a:t>Safe fallback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3D24641E-7465-408E-85FB-52971B3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6B35"/>
                </a:solidFill>
                <a:latin typeface="Aptos"/>
                <a:ea typeface="Aptos"/>
                <a:cs typeface="Aptos"/>
              </a:rPr>
              <a:t>FAULTTRACE</a:t>
            </a:r>
          </a:p>
        </p:txBody>
      </p:sp>
      <p:sp>
        <p:nvSpPr>
          <p:cNvPr id="4" name="accent-6">
            <a:extLst xmlns:a="http://schemas.openxmlformats.org/drawingml/2006/main">
              <a:ext uri="{FF2B5EF4-FFF2-40B4-BE49-F238E27FC236}">
                <a16:creationId xmlns:a16="http://schemas.microsoft.com/office/drawing/2014/main" id="{6E4629E0-8D6C-4BAC-A4E3-1087DB82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47493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2026-08-11T08:34:22.2500000Z</dcterms:created>
  <dcterms:modified xsi:type="dcterms:W3CDTF">2026-08-11T08:34:22.2500000Z</dcterms:modified>
</coreProperties>
</file>