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dfc9be6baa4643" /><Relationship Type="http://schemas.openxmlformats.org/officeDocument/2006/relationships/extended-properties" Target="/docProps/app.xml" Id="R1f098ad600e24be8" /><Relationship Type="http://schemas.openxmlformats.org/officeDocument/2006/relationships/officeDocument" Target="/ppt/presentation.xml" Id="R24c122f675074d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907a2ecdfc4d68"/>
  </p:sldMasterIdLst>
  <p:notesMasterIdLst>
    <p:notesMasterId xmlns:r="http://schemas.openxmlformats.org/officeDocument/2006/relationships" r:id="R12980f1cc19841d9"/>
  </p:notesMasterIdLst>
  <p:sldIdLst>
    <p:sldId xmlns:r="http://schemas.openxmlformats.org/officeDocument/2006/relationships" id="256" r:id="Rf79ae55c2fe745cf"/>
    <p:sldId xmlns:r="http://schemas.openxmlformats.org/officeDocument/2006/relationships" id="257" r:id="R43bedd9ba29e4288"/>
    <p:sldId xmlns:r="http://schemas.openxmlformats.org/officeDocument/2006/relationships" id="258" r:id="R300981bfbf334ba9"/>
    <p:sldId xmlns:r="http://schemas.openxmlformats.org/officeDocument/2006/relationships" id="259" r:id="R286e4e244fae407a"/>
    <p:sldId xmlns:r="http://schemas.openxmlformats.org/officeDocument/2006/relationships" id="260" r:id="R832ded7f4f034b8c"/>
    <p:sldId xmlns:r="http://schemas.openxmlformats.org/officeDocument/2006/relationships" id="261" r:id="R0d205b47a8304fa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b35d3b2e44d4b06" /><Relationship Type="http://schemas.openxmlformats.org/officeDocument/2006/relationships/slideMaster" Target="/ppt/slideMasters/slideMaster1.xml" Id="R60907a2ecdfc4d68" /><Relationship Type="http://schemas.openxmlformats.org/officeDocument/2006/relationships/notesMaster" Target="/ppt/notesMasters/notesMaster1.xml" Id="R12980f1cc19841d9" /><Relationship Type="http://schemas.openxmlformats.org/officeDocument/2006/relationships/presProps" Target="/ppt/presProps.xml" Id="R5d3195beb3044830" /><Relationship Type="http://schemas.openxmlformats.org/officeDocument/2006/relationships/tableStyles" Target="/ppt/tableStyles.xml" Id="R638d0ea70c2a4b0e" /><Relationship Type="http://schemas.openxmlformats.org/officeDocument/2006/relationships/slide" Target="/ppt/slides/slide1.xml" Id="Rf79ae55c2fe745cf" /><Relationship Type="http://schemas.openxmlformats.org/officeDocument/2006/relationships/slide" Target="/ppt/slides/slide2.xml" Id="R43bedd9ba29e4288" /><Relationship Type="http://schemas.openxmlformats.org/officeDocument/2006/relationships/slide" Target="/ppt/slides/slide3.xml" Id="R300981bfbf334ba9" /><Relationship Type="http://schemas.openxmlformats.org/officeDocument/2006/relationships/slide" Target="/ppt/slides/slide4.xml" Id="R286e4e244fae407a" /><Relationship Type="http://schemas.openxmlformats.org/officeDocument/2006/relationships/slide" Target="/ppt/slides/slide5.xml" Id="R832ded7f4f034b8c" /><Relationship Type="http://schemas.openxmlformats.org/officeDocument/2006/relationships/slide" Target="/ppt/slides/slide6.xml" Id="R0d205b47a8304f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5f59bc01dc43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3879998e2643c2" /><Relationship Type="http://schemas.openxmlformats.org/officeDocument/2006/relationships/notesMaster" Target="/ppt/notesMasters/notesMaster1.xml" Id="R12aae2a573a149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0e9266a0b24014" /><Relationship Type="http://schemas.openxmlformats.org/officeDocument/2006/relationships/notesMaster" Target="/ppt/notesMasters/notesMaster1.xml" Id="Rc8b5983844ea41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714293f81149c4" /><Relationship Type="http://schemas.openxmlformats.org/officeDocument/2006/relationships/notesMaster" Target="/ppt/notesMasters/notesMaster1.xml" Id="Rc2582e66372841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11dfb664114e14" /><Relationship Type="http://schemas.openxmlformats.org/officeDocument/2006/relationships/notesMaster" Target="/ppt/notesMasters/notesMaster1.xml" Id="Ra949d09319b74b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b0194ca1264f34" /><Relationship Type="http://schemas.openxmlformats.org/officeDocument/2006/relationships/notesMaster" Target="/ppt/notesMasters/notesMaster1.xml" Id="Rdccd4a03b4ae4f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5ce339efae46ef" /><Relationship Type="http://schemas.openxmlformats.org/officeDocument/2006/relationships/notesMaster" Target="/ppt/notesMasters/notesMaster1.xml" Id="R1cce004bef2249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~25 seconds. Introduce FaultTrace as a local incident decision-support prototype.</a:t>
            </a:r>
          </a:p>
          <a:p xmlns:a="http://schemas.openxmlformats.org/drawingml/2006/main">
            <a:r>
              <a:t>State clearly: I did not train a model; I built an offline RAG pipeline around local Qwen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src/faulttrace/foundry.py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~40 seconds. Frame the project around trustworthy incident reasoning, not a generic chatbot.</a:t>
            </a:r>
          </a:p>
          <a:p xmlns:a="http://schemas.openxmlformats.org/drawingml/2006/main">
            <a:r>
              <a:t>Logs are facts, runbooks are guidance, and unsupported claims must be blocked.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src/faulttrace/analysis.py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~50 seconds. Walk left to right.</a:t>
            </a:r>
          </a:p>
          <a:p xmlns:a="http://schemas.openxmlformats.org/drawingml/2006/main">
            <a:r>
              <a:t>Mention qwen3-embedding-0.6b, SQLite text plus vectors, top-K cosine retrieval, and qwen3.5-2b-text.</a:t>
            </a:r>
          </a:p>
          <a:p xmlns:a="http://schemas.openxmlformats.org/drawingml/2006/main">
            <a:r>
              <a:t>All inference and document processing stay on-device after the one-time model download.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src/faulttrace/log_parser.py</a:t>
            </a:r>
          </a:p>
          <a:p xmlns:a="http://schemas.openxmlformats.org/drawingml/2006/main">
            <a:r>
              <a:t>- src/faulttrace/privacy.py</a:t>
            </a:r>
          </a:p>
          <a:p xmlns:a="http://schemas.openxmlformats.org/drawingml/2006/main">
            <a:r>
              <a:t>- src/faulttrace/knowledge_base.py</a:t>
            </a:r>
          </a:p>
          <a:p xmlns:a="http://schemas.openxmlformats.org/drawingml/2006/main">
            <a:r>
              <a:t>- src/faulttrace/foundry.py</a:t>
            </a:r>
          </a:p>
          <a:p xmlns:a="http://schemas.openxmlformats.org/drawingml/2006/main">
            <a:r>
              <a:t>- src/faulttrace/qa.py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~40 seconds. Explain that this is the core safety behavior, not an error state.</a:t>
            </a:r>
          </a:p>
          <a:p xmlns:a="http://schemas.openxmlformats.org/drawingml/2006/main">
            <a:r>
              <a:t>Point to the measured score and threshold in the real interface screenshot.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src/faulttrace/qa.py</a:t>
            </a:r>
          </a:p>
          <a:p xmlns:a="http://schemas.openxmlformats.org/drawingml/2006/main">
            <a:r>
              <a:t>- Local project-owner screenshot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~35 seconds, then switch to the live app for about 90 seconds.</a:t>
            </a:r>
          </a:p>
          <a:p xmlns:a="http://schemas.openxmlformats.org/drawingml/2006/main">
            <a:r>
              <a:t>Demo sequence: select database incident; show impact score and failure chain; run Quick analysis; ask the HTTP 503 question; show the HR-policy rejection.</a:t>
            </a:r>
          </a:p>
          <a:p xmlns:a="http://schemas.openxmlformats.org/drawingml/2006/main">
            <a:r>
              <a:t>Explain that retrieval, LLM generation, and end-to-end latency are reported separately.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tests/</a:t>
            </a:r>
          </a:p>
          <a:p xmlns:a="http://schemas.openxmlformats.org/drawingml/2006/main">
            <a:r>
              <a:t>- src/faulttrace/evaluation.py</a:t>
            </a:r>
          </a:p>
          <a:p xmlns:a="http://schemas.openxmlformats.org/drawingml/2006/main">
            <a:r>
              <a:t>-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~20 seconds. Close by restating the product boundary: decision support, not autonomous remediation.</a:t>
            </a:r>
          </a:p>
          <a:p xmlns:a="http://schemas.openxmlformats.org/drawingml/2006/main">
            <a:r>
              <a:t>Invite questions about the architecture, evaluation, or offline model integration.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0aab1ad7cd44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a6d8e1a5624155" /><Relationship Type="http://schemas.openxmlformats.org/officeDocument/2006/relationships/slideLayout" Target="/ppt/slideLayouts/slideLayout1.xml" Id="R45b52882400c48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b52882400c48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6d985077b4c51" /><Relationship Type="http://schemas.openxmlformats.org/officeDocument/2006/relationships/notesSlide" Target="/ppt/notesSlides/notesSlide1.xml" Id="Rc6950854657248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6f89352ba4660" /><Relationship Type="http://schemas.openxmlformats.org/officeDocument/2006/relationships/notesSlide" Target="/ppt/notesSlides/notesSlide2.xml" Id="Rdb8bd88ea6aa49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9e49dbc384672" /><Relationship Type="http://schemas.openxmlformats.org/officeDocument/2006/relationships/notesSlide" Target="/ppt/notesSlides/notesSlide3.xml" Id="R5d0b65a0d0e448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0b640a96b4386" /><Relationship Type="http://schemas.openxmlformats.org/officeDocument/2006/relationships/image" Target="/ppt/media/image.png" Id="R1239a92e4eab4183" /><Relationship Type="http://schemas.openxmlformats.org/officeDocument/2006/relationships/notesSlide" Target="/ppt/notesSlides/notesSlide4.xml" Id="Rf0c5bc476d5f4a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c632030d94c9c" /><Relationship Type="http://schemas.openxmlformats.org/officeDocument/2006/relationships/notesSlide" Target="/ppt/notesSlides/notesSlide5.xml" Id="R10b4af4328d041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e4e03256b94488" /><Relationship Type="http://schemas.openxmlformats.org/officeDocument/2006/relationships/notesSlide" Target="/ppt/notesSlides/notesSlide6.xml" Id="Rc033f8ae9e6846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DEB44865-5B40-4A66-8BA3-1DA3F458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FAULTTRACE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2AD8436-767F-4879-A8B9-FA789988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Offline, evidence-grounded incident analysis and postmortems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BBB58DDF-A5DA-4937-8AAD-3DA4565A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MICROSOFT FOUNDRY LOCAL PROJECT</a:t>
            </a:r>
          </a:p>
        </p:txBody>
      </p:sp>
      <p:sp>
        <p:nvSpPr>
          <p:cNvPr id="4" name="accent-1">
            <a:extLst xmlns:a="http://schemas.openxmlformats.org/drawingml/2006/main">
              <a:ext uri="{FF2B5EF4-FFF2-40B4-BE49-F238E27FC236}">
                <a16:creationId xmlns:a16="http://schemas.microsoft.com/office/drawing/2014/main" id="{A9D6C8B6-82E8-4744-8FF7-26E44282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517731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E1E823D0-18EB-47D0-B5B0-AEF2A4D6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8B376E27-ED3A-4E43-93B3-DEC426B4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12830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Incident evidence is fragmented when response speed matters</a:t>
            </a:r>
          </a:p>
        </p:txBody>
      </p:sp>
      <p:sp>
        <p:nvSpPr>
          <p:cNvPr id="3" name="Rounded-Rectangle-9-4">
            <a:extLst xmlns:a="http://schemas.openxmlformats.org/drawingml/2006/main">
              <a:ext uri="{FF2B5EF4-FFF2-40B4-BE49-F238E27FC236}">
                <a16:creationId xmlns:a16="http://schemas.microsoft.com/office/drawing/2014/main" id="{6BC1FC63-5861-4625-AB54-3A03E458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2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ounded-Rectangle-10-5">
            <a:extLst xmlns:a="http://schemas.openxmlformats.org/drawingml/2006/main">
              <a:ext uri="{FF2B5EF4-FFF2-40B4-BE49-F238E27FC236}">
                <a16:creationId xmlns:a16="http://schemas.microsoft.com/office/drawing/2014/main" id="{400D25B8-C725-45BE-880D-4702BE7E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352F32A0-75B8-4A0F-83DA-3D8BB7C6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816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Runbooks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Scattered operational knowledge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8D730748-3773-45CF-8BDB-66F3DC0A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611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Risk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Confident answers without support</a:t>
            </a:r>
          </a:p>
        </p:txBody>
      </p:sp>
      <p:sp>
        <p:nvSpPr>
          <p:cNvPr id="7" name="Google-Shape-340-p61-8">
            <a:extLst xmlns:a="http://schemas.openxmlformats.org/drawingml/2006/main">
              <a:ext uri="{FF2B5EF4-FFF2-40B4-BE49-F238E27FC236}">
                <a16:creationId xmlns:a16="http://schemas.microsoft.com/office/drawing/2014/main" id="{8CC64178-4B7B-4BBC-8AA3-DBDF523C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26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17430167-6567-4676-ACCF-4BF2DD4F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3257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Rounded-Rectangle-5-10">
            <a:extLst xmlns:a="http://schemas.openxmlformats.org/drawingml/2006/main">
              <a:ext uri="{FF2B5EF4-FFF2-40B4-BE49-F238E27FC236}">
                <a16:creationId xmlns:a16="http://schemas.microsoft.com/office/drawing/2014/main" id="{B1FFE009-6898-43DF-9C06-CFAF9CD3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4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A8BA744C-A4CE-43AC-AB45-EC1CDDF2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13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Logs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Raw, noisy, time-sensitive evidence</a:t>
            </a:r>
          </a:p>
        </p:txBody>
      </p:sp>
      <p:sp>
        <p:nvSpPr>
          <p:cNvPr id="11" name="Google-Shape-340-p61-12">
            <a:extLst xmlns:a="http://schemas.openxmlformats.org/drawingml/2006/main">
              <a:ext uri="{FF2B5EF4-FFF2-40B4-BE49-F238E27FC236}">
                <a16:creationId xmlns:a16="http://schemas.microsoft.com/office/drawing/2014/main" id="{807687B0-FFCE-42D7-B90B-FF48B3F0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41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2" name="Content-Placeholder-15-13">
            <a:extLst xmlns:a="http://schemas.openxmlformats.org/drawingml/2006/main">
              <a:ext uri="{FF2B5EF4-FFF2-40B4-BE49-F238E27FC236}">
                <a16:creationId xmlns:a16="http://schemas.microsoft.com/office/drawing/2014/main" id="{ECD6D0E1-D964-4065-A795-AA5FA7B9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50562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THE PROBLEM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0141B"/>
                </a:solidFill>
                <a:latin typeface="Aptos"/>
                <a:ea typeface="Aptos"/>
                <a:cs typeface="Aptos"/>
              </a:rPr>
              <a:t>Logs show what happened; runbooks explain what to check. Generic assistants can mix facts, guidance, and guesses.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FaultTrace joins both evidence types locally and keeps their sources visible.</a:t>
            </a:r>
          </a:p>
        </p:txBody>
      </p:sp>
      <p:sp>
        <p:nvSpPr>
          <p:cNvPr id="13" name="accent-2">
            <a:extLst xmlns:a="http://schemas.openxmlformats.org/drawingml/2006/main">
              <a:ext uri="{FF2B5EF4-FFF2-40B4-BE49-F238E27FC236}">
                <a16:creationId xmlns:a16="http://schemas.microsoft.com/office/drawing/2014/main" id="{74333901-449F-49A4-9D8B-2222C317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188949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7E532AA7-C65B-4BA8-BBDD-66F24AA0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89E5873-C603-4868-9C7A-76D9A540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FaultTrace turns local evidence into a grounded answer</a:t>
            </a:r>
          </a:p>
        </p:txBody>
      </p:sp>
      <p:cxnSp>
        <p:nvCxnSpPr>
          <p:cNvPr id="19" name="Google-Shape-2259-p159-4"/>
          <p:cNvCxnSpPr/>
          <p:nvPr/>
        </p:nvCxnSpPr>
        <p:spPr>
          <a:xfrm xmlns:a="http://schemas.openxmlformats.org/drawingml/2006/main">
            <a:off x="393668" y="3373755"/>
            <a:ext cx="11404568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57685B59-89FD-4197-A86E-D375016B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114F2847-65A8-45B5-BA5C-A0EA1FEE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9F88EC9B-45E0-4062-8906-B69ADB30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C1E9563E-E618-47B2-93F0-4643C383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141B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F8070CD8-201D-4E78-B224-36FC9B97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141B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842B849F-5888-4851-BE9B-655CE7C1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141B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1F5FEB6F-8713-41F4-AEA8-C103DCF5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Embed + retrieve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Search SQLite chunks with local embeddings and cosine similarity.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CAAAC04D-4310-45E8-95A1-9A093EED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Parse + redact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Normalize logs and mask sensitive values.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F8D24EDA-DC9F-42CA-972E-86826E79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Answer + audit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Generate from labelled evidence, then verify citation labels.</a:t>
            </a:r>
          </a:p>
        </p:txBody>
      </p:sp>
      <p:sp>
        <p:nvSpPr>
          <p:cNvPr id="13" name="accent-3">
            <a:extLst xmlns:a="http://schemas.openxmlformats.org/drawingml/2006/main">
              <a:ext uri="{FF2B5EF4-FFF2-40B4-BE49-F238E27FC236}">
                <a16:creationId xmlns:a16="http://schemas.microsoft.com/office/drawing/2014/main" id="{4A05F372-9B24-4400-B82C-A1A801426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4" name="stage-01">
            <a:extLst xmlns:a="http://schemas.openxmlformats.org/drawingml/2006/main">
              <a:ext uri="{FF2B5EF4-FFF2-40B4-BE49-F238E27FC236}">
                <a16:creationId xmlns:a16="http://schemas.microsoft.com/office/drawing/2014/main" id="{CE0DC271-715A-4678-9689-A6AA713C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813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6B3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stage-02">
            <a:extLst xmlns:a="http://schemas.openxmlformats.org/drawingml/2006/main">
              <a:ext uri="{FF2B5EF4-FFF2-40B4-BE49-F238E27FC236}">
                <a16:creationId xmlns:a16="http://schemas.microsoft.com/office/drawing/2014/main" id="{FCEBC89E-E452-4CA6-AB4D-126DC8B0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6B3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stage-03">
            <a:extLst xmlns:a="http://schemas.openxmlformats.org/drawingml/2006/main">
              <a:ext uri="{FF2B5EF4-FFF2-40B4-BE49-F238E27FC236}">
                <a16:creationId xmlns:a16="http://schemas.microsoft.com/office/drawing/2014/main" id="{33ADEF4B-37C8-4EBF-997E-F29870D8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7813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6B3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969608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-4">
            <a:extLst xmlns:a="http://schemas.openxmlformats.org/drawingml/2006/main">
              <a:ext uri="{FF2B5EF4-FFF2-40B4-BE49-F238E27FC236}">
                <a16:creationId xmlns:a16="http://schemas.microsoft.com/office/drawing/2014/main" id="{3D65D927-D365-482B-A822-D5B4A667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" name="safety-title">
            <a:extLst xmlns:a="http://schemas.openxmlformats.org/drawingml/2006/main">
              <a:ext uri="{FF2B5EF4-FFF2-40B4-BE49-F238E27FC236}">
                <a16:creationId xmlns:a16="http://schemas.microsoft.com/office/drawing/2014/main" id="{6EE9E39B-FEFA-4D43-94C5-AA4DAFB5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014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0141B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0141B"/>
                </a:solidFill>
                <a:latin typeface="Aptos Display"/>
                <a:ea typeface="Aptos Display"/>
                <a:cs typeface="Aptos Display"/>
              </a:rPr>
              <a:t>Unsupported questions stop before generation</a:t>
            </a:r>
          </a:p>
        </p:txBody>
      </p:sp>
      <p:sp>
        <p:nvSpPr>
          <p:cNvPr id="3" name="safety-body">
            <a:extLst xmlns:a="http://schemas.openxmlformats.org/drawingml/2006/main">
              <a:ext uri="{FF2B5EF4-FFF2-40B4-BE49-F238E27FC236}">
                <a16:creationId xmlns:a16="http://schemas.microsoft.com/office/drawing/2014/main" id="{669E76EB-3C76-4419-9F6C-7EC4B24C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4171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141B"/>
                </a:solidFill>
                <a:latin typeface="Aptos"/>
                <a:ea typeface="Aptos"/>
                <a:cs typeface="Aptos"/>
              </a:defRPr>
            </a:pPr>
            <a:r>
              <a:rPr sz="1950">
                <a:solidFill>
                  <a:srgbClr val="10141B"/>
                </a:solidFill>
                <a:latin typeface="Aptos"/>
                <a:ea typeface="Aptos"/>
                <a:cs typeface="Aptos"/>
              </a:rPr>
              <a:t>Retrieval runs first.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10141B"/>
                </a:solidFill>
                <a:latin typeface="Aptos"/>
                <a:ea typeface="Aptos"/>
                <a:cs typeface="Aptos"/>
              </a:defRPr>
            </a:pPr>
            <a:r>
              <a:rPr sz="1950">
                <a:solidFill>
                  <a:srgbClr val="10141B"/>
                </a:solidFill>
                <a:latin typeface="Aptos"/>
                <a:ea typeface="Aptos"/>
                <a:cs typeface="Aptos"/>
              </a:rPr>
              <a:t>A calibrated 0.48 similarity gate blocks weak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10141B"/>
                </a:solidFill>
                <a:latin typeface="Aptos"/>
                <a:ea typeface="Aptos"/>
                <a:cs typeface="Aptos"/>
              </a:defRPr>
            </a:pPr>
            <a:r>
              <a:rPr sz="1950">
                <a:solidFill>
                  <a:srgbClr val="10141B"/>
                </a:solidFill>
                <a:latin typeface="Aptos"/>
                <a:ea typeface="Aptos"/>
                <a:cs typeface="Aptos"/>
              </a:rPr>
              <a:t>The local chat model never runs for a rejected question.</a:t>
            </a:r>
          </a:p>
        </p:txBody>
      </p:sp>
      <p:sp>
        <p:nvSpPr>
          <p:cNvPr id="4" name="safety-callout">
            <a:extLst xmlns:a="http://schemas.openxmlformats.org/drawingml/2006/main">
              <a:ext uri="{FF2B5EF4-FFF2-40B4-BE49-F238E27FC236}">
                <a16:creationId xmlns:a16="http://schemas.microsoft.com/office/drawing/2014/main" id="{7F5194F4-F145-4B99-95B6-6681E130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10200"/>
            <a:ext cx="41719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6B35"/>
                </a:solidFill>
              </a:defRPr>
            </a:pPr>
            <a:r>
              <a:rPr sz="1650" b="1">
                <a:solidFill>
                  <a:srgbClr val="FF6B35"/>
                </a:solidFill>
              </a:rPr>
              <a:t>0.440 &lt; 0.480  →  safe fallback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39a92e4eab4183"/>
          <a:stretch xmlns:a="http://schemas.openxmlformats.org/drawingml/2006/main"/>
        </p:blipFill>
        <p:spPr>
          <a:xfrm xmlns:a="http://schemas.openxmlformats.org/drawingml/2006/main">
            <a:off x="4953000" y="1575307"/>
            <a:ext cx="6838950" cy="3840736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6" name="screenshot-caption">
            <a:extLst xmlns:a="http://schemas.openxmlformats.org/drawingml/2006/main">
              <a:ext uri="{FF2B5EF4-FFF2-40B4-BE49-F238E27FC236}">
                <a16:creationId xmlns:a16="http://schemas.microsoft.com/office/drawing/2014/main" id="{0F7D7CAC-C705-48FC-8A0E-3E777A1F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562600"/>
            <a:ext cx="683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>
                <a:solidFill>
                  <a:srgbClr val="596579"/>
                </a:solidFill>
              </a:defRPr>
            </a:pPr>
            <a:r>
              <a:rPr sz="1350">
                <a:solidFill>
                  <a:srgbClr val="596579"/>
                </a:solidFill>
              </a:rPr>
              <a:t>Real local UI · no answer was invented</a:t>
            </a:r>
          </a:p>
        </p:txBody>
      </p:sp>
    </p:spTree>
    <p:extLst>
      <p:ext uri="{BB962C8B-B14F-4D97-AF65-F5344CB8AC3E}">
        <p14:creationId xmlns:p14="http://schemas.microsoft.com/office/powerpoint/2010/main" val="15579401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32127819-3FA9-4867-869D-71300057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C19031F9-9A55-468A-BC4F-D3EAC9C0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E0917E1E-1178-4793-AC59-BC73EFC8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EF0BD66B-437F-4BCA-BEC6-1CB17F4E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1A4E3BB9-8140-4581-A3C2-591A2DCA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The prototype is tested, evaluated, and measurable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57EE3070-80B1-4982-AB3E-8D29D99E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automated tests passing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1ACB4279-4C94-4DA6-BAB7-BBFE8CD4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separate latency measurements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ECFD7965-B595-40AC-B06D-005875FE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RAG evaluation cases passing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EE5C697A-9600-46C1-ABCE-1F28FC01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28 / 28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9AE5AD8E-BAB1-4299-8CAB-F136D71D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5 / 5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749C7069-72DF-485A-A7A3-A325885B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0AC455EA-DEAB-45D0-B0B3-042E5DB3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VERIFICATION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0141B"/>
                </a:solidFill>
                <a:latin typeface="Aptos"/>
                <a:ea typeface="Aptos"/>
                <a:cs typeface="Aptos"/>
              </a:rPr>
              <a:t>Automated tests cover parsing, malformed input, privacy, chunking, SQLite retrieval, safe rejection, citations, metrics, and persistence.</a:t>
            </a:r>
          </a:p>
        </p:txBody>
      </p:sp>
      <p:sp>
        <p:nvSpPr>
          <p:cNvPr id="13" name="accent-5">
            <a:extLst xmlns:a="http://schemas.openxmlformats.org/drawingml/2006/main">
              <a:ext uri="{FF2B5EF4-FFF2-40B4-BE49-F238E27FC236}">
                <a16:creationId xmlns:a16="http://schemas.microsoft.com/office/drawing/2014/main" id="{1C72FC4F-4E5A-4320-8A26-542375A5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498182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FE98BA7B-8F4F-4F73-B563-4FE2DB8C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Evidence, not guesses.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8779017-783C-4BBE-B8D4-6A57745B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Local RAG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Verifiable citations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Safe fallback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BC4B3B3F-170B-4B45-A518-45618D8B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FAULTTRACE</a:t>
            </a:r>
          </a:p>
        </p:txBody>
      </p:sp>
      <p:sp>
        <p:nvSpPr>
          <p:cNvPr id="4" name="accent-6">
            <a:extLst xmlns:a="http://schemas.openxmlformats.org/drawingml/2006/main">
              <a:ext uri="{FF2B5EF4-FFF2-40B4-BE49-F238E27FC236}">
                <a16:creationId xmlns:a16="http://schemas.microsoft.com/office/drawing/2014/main" id="{21A3EB85-A845-497D-8127-15A8294E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90773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2026-08-10T08:41:19.2070000Z</dcterms:created>
  <dcterms:modified xsi:type="dcterms:W3CDTF">2026-08-10T08:41:19.2070000Z</dcterms:modified>
</coreProperties>
</file>